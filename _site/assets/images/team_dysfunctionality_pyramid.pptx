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3"/>
  </p:normalViewPr>
  <p:slideViewPr>
    <p:cSldViewPr snapToGrid="0">
      <p:cViewPr varScale="1">
        <p:scale>
          <a:sx n="99" d="100"/>
          <a:sy n="99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A62E-D9A0-8D56-CA1F-5A9911A9F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09410-D246-17E7-8DDD-0E0D34482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8EBE6-4798-09C1-3BE6-A606A99F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4295C-0B35-DF9C-982A-217D48A5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913F-BD78-F7CE-C2B0-005ED79F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376D-A725-92AB-24E7-8EB60327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63293-D093-A567-8720-05F5A3FA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0F945-0108-A0FA-8EDE-6DE12BDA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1150F-D4D8-2BC8-FBB2-F72EF5C8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6E2D-F6D7-15E9-BE7B-EAAF7F45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B480-BCF0-321A-8698-8C45C066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23666-ED23-EB56-A2FC-79BD2A6C4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C788-3484-57DB-EB32-EF74D7C9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115A5-C060-D59F-37D3-A0CCE900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55F80-A916-32FC-33F9-D53EAD73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6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F195-A36B-9F0C-D1C2-CA14CB6E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8DA2D-5191-73E0-79CC-296A939DB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38607-08AC-B0D0-9B87-DA0434AD4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F03DF-1C1E-7612-302F-944929B2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8D6C4-670C-04AD-CF54-85168490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0A081-A37D-4540-04F3-D8683B83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9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C3CC-5C3E-9FFB-A4F7-C8314AFC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593C7-FF6E-3523-00C0-25B54FDEB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6DCFB-63B8-90C6-E3AF-C5CB157B3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7E569-8D3A-F9B8-A4DC-7A6A6F87C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CBEA9-FB90-FF92-D4F0-7C8AE169C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A2FA1-CBEE-0463-A48A-5F6483A5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A03B5-25AF-0951-F26E-25284E70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CB577-F32F-187E-EE88-A306C6ED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0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0DE1-CE13-F311-F872-7CFE7BAF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D23EF-8D54-51C6-407D-EE537D21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94FDE-E444-BB9D-2BDB-39FB8621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9419F-0582-B803-5378-0A267774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92183-2710-371D-B7BE-C919162CA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1AE67-62D8-C24A-14D3-EEA068D9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B83C-64D7-FED6-1D5E-7F0F24D9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7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D39B-BCD3-0B0C-A34F-FDDEDF6B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1456-1BDA-5983-4F4A-A55264A87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2B9D6-C4F6-1589-C2AE-3F05FF933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3D3B5-3133-A56F-6A24-FC35186B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EA6E4-1353-95DF-87C4-5BC7974E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F4F2B-86AC-82FB-59A1-A1C280F0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243A-B1F8-4A8B-2751-638283A0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F4F94-3254-8C1D-E3E2-A4747EA2A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59769-46F9-F832-6E47-2147DA3B6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91842-E40B-F77D-2FE6-05C406AF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2AFD5-DF49-E179-EAA5-A5E9FDC6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80E1F-B74E-5CC5-9890-41BB389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3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92CA-8944-B371-CDAE-32E6A085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30DE-4737-03B2-C81A-C28270276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C3F1C-3320-041A-69BA-9C80352C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97B20-5E72-CDE3-E482-3C557D46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CE54-8145-60A2-F5F4-1D50FB37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6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84EE1-3C06-76A1-60D0-37F7B10C2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758DC-C776-F394-ECAC-E1977C96A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A9604-EAD4-6D16-4BEE-34A0BF19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9B6C1-78A3-7C4A-B217-D1CDA06B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40-6562-399D-CDF5-C1989FA1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1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176653-9831-DBE7-8F5F-C03771CD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61282-D7FA-29BF-AA69-131004E10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44E0A-2786-B45F-23F0-325110DC7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E4552-84D2-9749-A212-C2C8FC6E6159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6D1B6-2457-B0DD-BFBA-1663B50EB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ABCA1-91A7-BCBD-C43C-A6F8D1F1B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73DB2-3B85-9944-85AB-DCE580DCB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>
            <a:extLst>
              <a:ext uri="{FF2B5EF4-FFF2-40B4-BE49-F238E27FC236}">
                <a16:creationId xmlns:a16="http://schemas.microsoft.com/office/drawing/2014/main" id="{E5811694-2C68-3F14-1DC3-D56DF8FDF92D}"/>
              </a:ext>
            </a:extLst>
          </p:cNvPr>
          <p:cNvSpPr/>
          <p:nvPr/>
        </p:nvSpPr>
        <p:spPr>
          <a:xfrm>
            <a:off x="2524259" y="353657"/>
            <a:ext cx="6922787" cy="5967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F859F9E7-EFCD-5B76-DB69-FE4504BBB80C}"/>
              </a:ext>
            </a:extLst>
          </p:cNvPr>
          <p:cNvSpPr/>
          <p:nvPr/>
        </p:nvSpPr>
        <p:spPr>
          <a:xfrm>
            <a:off x="3036326" y="353658"/>
            <a:ext cx="5898652" cy="50850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E09CBAEA-DA78-9AD6-1DB1-78C51ECC9AAB}"/>
              </a:ext>
            </a:extLst>
          </p:cNvPr>
          <p:cNvSpPr/>
          <p:nvPr/>
        </p:nvSpPr>
        <p:spPr>
          <a:xfrm>
            <a:off x="3509077" y="353658"/>
            <a:ext cx="4953150" cy="42699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159F927-8707-A8A8-9C1D-90D429B71F23}"/>
              </a:ext>
            </a:extLst>
          </p:cNvPr>
          <p:cNvSpPr/>
          <p:nvPr/>
        </p:nvSpPr>
        <p:spPr>
          <a:xfrm>
            <a:off x="4050105" y="353658"/>
            <a:ext cx="3871095" cy="333715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F11B91AC-B3BA-0C68-EAFF-80B534BC97A2}"/>
              </a:ext>
            </a:extLst>
          </p:cNvPr>
          <p:cNvSpPr/>
          <p:nvPr/>
        </p:nvSpPr>
        <p:spPr>
          <a:xfrm>
            <a:off x="4541192" y="353657"/>
            <a:ext cx="2888920" cy="24904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7511A6-8987-D35A-784E-C60E58F73806}"/>
              </a:ext>
            </a:extLst>
          </p:cNvPr>
          <p:cNvSpPr txBox="1"/>
          <p:nvPr/>
        </p:nvSpPr>
        <p:spPr>
          <a:xfrm>
            <a:off x="2927687" y="5674273"/>
            <a:ext cx="6227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"Absence of Trust", which leads to </a:t>
            </a:r>
            <a:r>
              <a:rPr lang="en-CA" sz="1200" b="0" i="1" dirty="0">
                <a:solidFill>
                  <a:srgbClr val="66D9EF"/>
                </a:solidFill>
                <a:effectLst/>
                <a:latin typeface="Menlo" panose="020B0609030804020204" pitchFamily="49" charset="0"/>
              </a:rPr>
              <a:t>invulnerability</a:t>
            </a:r>
          </a:p>
          <a:p>
            <a:pPr algn="ctr"/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in the sense of apprehension to let oneself be seen as vulnerable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761D2-2A45-8CC8-CBA3-774CADB0E431}"/>
              </a:ext>
            </a:extLst>
          </p:cNvPr>
          <p:cNvSpPr txBox="1"/>
          <p:nvPr/>
        </p:nvSpPr>
        <p:spPr>
          <a:xfrm>
            <a:off x="2891853" y="4846306"/>
            <a:ext cx="6227987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"Fear of Conflict", which leads to </a:t>
            </a:r>
            <a:r>
              <a:rPr lang="en-CA" sz="1200" b="0" i="1" dirty="0">
                <a:solidFill>
                  <a:srgbClr val="66D9EF"/>
                </a:solidFill>
                <a:effectLst/>
                <a:latin typeface="Menlo" panose="020B0609030804020204" pitchFamily="49" charset="0"/>
              </a:rPr>
              <a:t>artificial harmony</a:t>
            </a:r>
          </a:p>
          <a:p>
            <a:pPr algn="ctr">
              <a:lnSpc>
                <a:spcPts val="1350"/>
              </a:lnSpc>
            </a:pPr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no one raises (constructive) criticism to one another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D5B26-54F4-EF7D-99B8-AA49395B3E3A}"/>
              </a:ext>
            </a:extLst>
          </p:cNvPr>
          <p:cNvSpPr txBox="1"/>
          <p:nvPr/>
        </p:nvSpPr>
        <p:spPr>
          <a:xfrm>
            <a:off x="3801686" y="4021277"/>
            <a:ext cx="4588626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"Lack of Commitment", which leads to </a:t>
            </a:r>
            <a:r>
              <a:rPr lang="en-CA" sz="1200" b="0" i="1" dirty="0">
                <a:solidFill>
                  <a:srgbClr val="66D9EF"/>
                </a:solidFill>
                <a:effectLst/>
                <a:latin typeface="Menlo" panose="020B0609030804020204" pitchFamily="49" charset="0"/>
              </a:rPr>
              <a:t>ambiguity</a:t>
            </a:r>
            <a:endParaRPr lang="en-CA" sz="1200" b="0" dirty="0">
              <a:solidFill>
                <a:srgbClr val="F8F8F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9A434-D207-41EB-44BA-17BA84871F1A}"/>
              </a:ext>
            </a:extLst>
          </p:cNvPr>
          <p:cNvSpPr txBox="1"/>
          <p:nvPr/>
        </p:nvSpPr>
        <p:spPr>
          <a:xfrm>
            <a:off x="8462227" y="3813137"/>
            <a:ext cx="338286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CA" sz="12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no one takes responsibilities, and problems are left without clear solvers</a:t>
            </a:r>
          </a:p>
          <a:p>
            <a:pPr>
              <a:lnSpc>
                <a:spcPts val="1350"/>
              </a:lnSpc>
            </a:pPr>
            <a:endParaRPr lang="en-CA" sz="1200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C9D30-09AB-DB92-23A0-BA1AA95B2EEB}"/>
              </a:ext>
            </a:extLst>
          </p:cNvPr>
          <p:cNvSpPr txBox="1"/>
          <p:nvPr/>
        </p:nvSpPr>
        <p:spPr>
          <a:xfrm>
            <a:off x="4591053" y="3077011"/>
            <a:ext cx="3083760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"Avoidance of Accountability", which leads to </a:t>
            </a:r>
            <a:r>
              <a:rPr lang="en-CA" sz="1200" b="0" i="1" dirty="0">
                <a:solidFill>
                  <a:srgbClr val="66D9EF"/>
                </a:solidFill>
                <a:effectLst/>
                <a:latin typeface="Menlo" panose="020B0609030804020204" pitchFamily="49" charset="0"/>
              </a:rPr>
              <a:t>low standards</a:t>
            </a:r>
            <a:endParaRPr lang="en-CA" sz="1200" b="0" dirty="0">
              <a:solidFill>
                <a:srgbClr val="F8F8F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AA0F5-0A0F-2F1E-A55B-18150B3EACAC}"/>
              </a:ext>
            </a:extLst>
          </p:cNvPr>
          <p:cNvSpPr txBox="1"/>
          <p:nvPr/>
        </p:nvSpPr>
        <p:spPr>
          <a:xfrm>
            <a:off x="7790724" y="2906090"/>
            <a:ext cx="435405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CA" sz="12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team members deny their responsibilities, or being accountable for failures, and the team stops expecting their colleagues to do better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68B84-B488-F501-4D19-3DB2CEEBC9B9}"/>
              </a:ext>
            </a:extLst>
          </p:cNvPr>
          <p:cNvSpPr txBox="1"/>
          <p:nvPr/>
        </p:nvSpPr>
        <p:spPr>
          <a:xfrm>
            <a:off x="4779006" y="2211802"/>
            <a:ext cx="26639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CA" sz="1200" b="0" dirty="0">
                <a:solidFill>
                  <a:srgbClr val="F8F8F2"/>
                </a:solidFill>
                <a:effectLst/>
                <a:latin typeface="Menlo" panose="020B0609030804020204" pitchFamily="49" charset="0"/>
              </a:rPr>
              <a:t>"Inattention to Results", leading to team members focusing on </a:t>
            </a:r>
            <a:r>
              <a:rPr lang="en-CA" sz="1200" b="0" i="1" dirty="0">
                <a:solidFill>
                  <a:srgbClr val="66D9EF"/>
                </a:solidFill>
                <a:effectLst/>
                <a:latin typeface="Menlo" panose="020B0609030804020204" pitchFamily="49" charset="0"/>
              </a:rPr>
              <a:t>status and ego</a:t>
            </a:r>
            <a:endParaRPr lang="en-CA" sz="1200" b="0" dirty="0">
              <a:solidFill>
                <a:srgbClr val="F8F8F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8305D5-F13C-6455-18A4-E7FCD39A34ED}"/>
              </a:ext>
            </a:extLst>
          </p:cNvPr>
          <p:cNvSpPr txBox="1"/>
          <p:nvPr/>
        </p:nvSpPr>
        <p:spPr>
          <a:xfrm>
            <a:off x="7028464" y="1254775"/>
            <a:ext cx="4354055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CA" sz="12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the team stops looking openly at the quantitative metrics that characterize their performance as a group, and folks become individually defensive, self-protective</a:t>
            </a:r>
          </a:p>
        </p:txBody>
      </p:sp>
    </p:spTree>
    <p:extLst>
      <p:ext uri="{BB962C8B-B14F-4D97-AF65-F5344CB8AC3E}">
        <p14:creationId xmlns:p14="http://schemas.microsoft.com/office/powerpoint/2010/main" val="332781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132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Leopoldo E Silva Lopes, Pedro</dc:creator>
  <cp:lastModifiedBy>Leopoldo E Silva Lopes, Pedro</cp:lastModifiedBy>
  <cp:revision>1</cp:revision>
  <dcterms:created xsi:type="dcterms:W3CDTF">2025-04-30T02:07:06Z</dcterms:created>
  <dcterms:modified xsi:type="dcterms:W3CDTF">2025-04-30T02:17:24Z</dcterms:modified>
</cp:coreProperties>
</file>